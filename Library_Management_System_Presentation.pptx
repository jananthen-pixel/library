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578358" cy="420624"/>
          </a:xfrm>
          <a:prstGeom prst="roundRect">
            <a:avLst>
              <a:gd name="adj" fmla="val 1087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1318" y="1069848"/>
            <a:ext cx="336499" cy="109728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6" name="Shape 4"/>
          <p:cNvSpPr/>
          <p:nvPr/>
        </p:nvSpPr>
        <p:spPr>
          <a:xfrm>
            <a:off x="1737817" y="914400"/>
            <a:ext cx="578358" cy="420624"/>
          </a:xfrm>
          <a:prstGeom prst="roundRect">
            <a:avLst>
              <a:gd name="adj" fmla="val 1087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16175" y="1069848"/>
            <a:ext cx="336499" cy="109728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8" name="Shape 6"/>
          <p:cNvSpPr/>
          <p:nvPr/>
        </p:nvSpPr>
        <p:spPr>
          <a:xfrm>
            <a:off x="2652674" y="914400"/>
            <a:ext cx="578358" cy="420624"/>
          </a:xfrm>
          <a:prstGeom prst="roundRect">
            <a:avLst>
              <a:gd name="adj" fmla="val 10870"/>
            </a:avLst>
          </a:prstGeom>
          <a:solidFill>
            <a:srgbClr val="C9A24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Implementation of Singly Linked List, Stack, and Queue in Java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45720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690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 Wellassa University of Sri Lanka
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Data Structures and Algorithms  |  Course Code: ICT 143-2
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[Your Full Name]  |  Registration No.: [Your Reg. No.]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6080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[Presentation 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Java application that automates core university library operations, built entirely on manually implemented data structures rather than built-in Java collections.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194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Catalogue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53288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delete, search, and display book records without any fixed-size limitation.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154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Actions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49300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the most recent deletion instantly using a history-tracking Stack.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114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Reservations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45312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students for high-demand books strictly in First-In-First-Out order.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074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CLI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41324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robust, loop-driven Scanner-based menu with input validation and error handling.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80960" y="1965960"/>
            <a:ext cx="427482" cy="310896"/>
          </a:xfrm>
          <a:prstGeom prst="roundRect">
            <a:avLst>
              <a:gd name="adj" fmla="val 14706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08442" y="2066544"/>
            <a:ext cx="248717" cy="109728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24" name="Shape 22"/>
          <p:cNvSpPr/>
          <p:nvPr/>
        </p:nvSpPr>
        <p:spPr>
          <a:xfrm>
            <a:off x="8357159" y="1965960"/>
            <a:ext cx="427482" cy="310896"/>
          </a:xfrm>
          <a:prstGeom prst="roundRect">
            <a:avLst>
              <a:gd name="adj" fmla="val 14706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84641" y="2066544"/>
            <a:ext cx="248717" cy="109728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26" name="Shape 24"/>
          <p:cNvSpPr/>
          <p:nvPr/>
        </p:nvSpPr>
        <p:spPr>
          <a:xfrm>
            <a:off x="9033358" y="1965960"/>
            <a:ext cx="427482" cy="310896"/>
          </a:xfrm>
          <a:prstGeom prst="roundRect">
            <a:avLst>
              <a:gd name="adj" fmla="val 14706"/>
            </a:avLst>
          </a:prstGeom>
          <a:solidFill>
            <a:srgbClr val="C9A24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2514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Catalogue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18120" y="3429000"/>
            <a:ext cx="905256" cy="241402"/>
          </a:xfrm>
          <a:prstGeom prst="rect">
            <a:avLst/>
          </a:prstGeom>
          <a:solidFill>
            <a:srgbClr val="C9A24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8120" y="3706978"/>
            <a:ext cx="905256" cy="24140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3984955"/>
            <a:ext cx="905256" cy="24140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18120" y="4262933"/>
            <a:ext cx="905256" cy="241402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96528" y="34015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80960" y="4343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(LIFO)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History / Undo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5349240"/>
            <a:ext cx="370332" cy="312725"/>
          </a:xfrm>
          <a:prstGeom prst="rect">
            <a:avLst/>
          </a:prstGeom>
          <a:solidFill>
            <a:srgbClr val="C9A24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57870" y="5349240"/>
            <a:ext cx="370332" cy="312725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77579" y="5349240"/>
            <a:ext cx="370332" cy="312725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97289" y="5349240"/>
            <a:ext cx="370332" cy="312725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45552" y="5441594"/>
            <a:ext cx="256032" cy="128016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39" name="Text 37"/>
          <p:cNvSpPr/>
          <p:nvPr/>
        </p:nvSpPr>
        <p:spPr>
          <a:xfrm>
            <a:off x="7818120" y="50932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804197" y="5441594"/>
            <a:ext cx="256032" cy="128016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41" name="Text 39"/>
          <p:cNvSpPr/>
          <p:nvPr/>
        </p:nvSpPr>
        <p:spPr>
          <a:xfrm>
            <a:off x="9767621" y="50932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680960" y="5806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(FIFO)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Waiting List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143-2  |  Data Structures and Algorithms  |  Uva Wellassa University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CLI layer connects to the three independent data-structure modules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023360" y="16916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0" y="16916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Driver Class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LibraryManagementSystem (Scanner CLI Menu)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514600"/>
            <a:ext cx="-3749040" cy="54864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2514600"/>
            <a:ext cx="45720" cy="54864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2514600"/>
            <a:ext cx="3840480" cy="54864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06324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BookLinkedList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43000" y="3749040"/>
            <a:ext cx="427482" cy="310896"/>
          </a:xfrm>
          <a:prstGeom prst="roundRect">
            <a:avLst>
              <a:gd name="adj" fmla="val 14706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70482" y="3849624"/>
            <a:ext cx="248717" cy="109728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13" name="Shape 11"/>
          <p:cNvSpPr/>
          <p:nvPr/>
        </p:nvSpPr>
        <p:spPr>
          <a:xfrm>
            <a:off x="1819199" y="3749040"/>
            <a:ext cx="427482" cy="310896"/>
          </a:xfrm>
          <a:prstGeom prst="roundRect">
            <a:avLst>
              <a:gd name="adj" fmla="val 14706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6681" y="3849624"/>
            <a:ext cx="248717" cy="109728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15" name="Shape 13"/>
          <p:cNvSpPr/>
          <p:nvPr/>
        </p:nvSpPr>
        <p:spPr>
          <a:xfrm>
            <a:off x="2495398" y="3749040"/>
            <a:ext cx="427482" cy="310896"/>
          </a:xfrm>
          <a:prstGeom prst="roundRect">
            <a:avLst>
              <a:gd name="adj" fmla="val 14706"/>
            </a:avLst>
          </a:prstGeom>
          <a:solidFill>
            <a:srgbClr val="C9A24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6634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Delete / Search / Display / Sort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306324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HistoryStack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94960" y="3703320"/>
            <a:ext cx="822960" cy="219456"/>
          </a:xfrm>
          <a:prstGeom prst="rect">
            <a:avLst/>
          </a:prstGeom>
          <a:solidFill>
            <a:srgbClr val="C9A24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3959352"/>
            <a:ext cx="822960" cy="219456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94960" y="4215384"/>
            <a:ext cx="822960" cy="219456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4471416"/>
            <a:ext cx="822960" cy="219456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36758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46634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(Delete/Borrow) / Pop (Undo) / Peek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12480" y="306324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ReservationQueue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098280" y="3840480"/>
            <a:ext cx="329184" cy="277978"/>
          </a:xfrm>
          <a:prstGeom prst="rect">
            <a:avLst/>
          </a:prstGeom>
          <a:solidFill>
            <a:srgbClr val="C9A24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71355" y="3840480"/>
            <a:ext cx="329184" cy="277978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44430" y="3840480"/>
            <a:ext cx="329184" cy="277978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17506" y="3840480"/>
            <a:ext cx="329184" cy="277978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05672" y="3915461"/>
            <a:ext cx="256032" cy="128016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32" name="Text 30"/>
          <p:cNvSpPr/>
          <p:nvPr/>
        </p:nvSpPr>
        <p:spPr>
          <a:xfrm>
            <a:off x="8778240" y="35844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583266" y="3915461"/>
            <a:ext cx="256032" cy="128016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34" name="Text 32"/>
          <p:cNvSpPr/>
          <p:nvPr/>
        </p:nvSpPr>
        <p:spPr>
          <a:xfrm>
            <a:off x="10546690" y="358444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95360" y="46634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(Reserve) / Dequeue (Serve)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143-2  |  Data Structures and Algorithms  |  Uva Wellassa University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383280" cy="731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377190" cy="274320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0150" y="1773936"/>
            <a:ext cx="219456" cy="109728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7" name="Shape 5"/>
          <p:cNvSpPr/>
          <p:nvPr/>
        </p:nvSpPr>
        <p:spPr>
          <a:xfrm>
            <a:off x="1419606" y="1691640"/>
            <a:ext cx="377190" cy="274320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6796" y="1773936"/>
            <a:ext cx="219456" cy="109728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9" name="Shape 7"/>
          <p:cNvSpPr/>
          <p:nvPr/>
        </p:nvSpPr>
        <p:spPr>
          <a:xfrm>
            <a:off x="2016252" y="1691640"/>
            <a:ext cx="377190" cy="274320"/>
          </a:xfrm>
          <a:prstGeom prst="roundRect">
            <a:avLst>
              <a:gd name="adj" fmla="val 16667"/>
            </a:avLst>
          </a:prstGeom>
          <a:solidFill>
            <a:srgbClr val="C9A24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14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8620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Catalogue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29184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insertion at head; no fixed capacity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shifting needed when deleting a node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/ shrinks exactly with real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371600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371600"/>
            <a:ext cx="3383280" cy="731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5" name="Shape 13"/>
          <p:cNvSpPr/>
          <p:nvPr/>
        </p:nvSpPr>
        <p:spPr>
          <a:xfrm>
            <a:off x="5623560" y="1645920"/>
            <a:ext cx="699516" cy="186538"/>
          </a:xfrm>
          <a:prstGeom prst="rect">
            <a:avLst/>
          </a:prstGeom>
          <a:solidFill>
            <a:srgbClr val="C9A24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1869034"/>
            <a:ext cx="699516" cy="186538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23560" y="2092147"/>
            <a:ext cx="699516" cy="186538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2315261"/>
            <a:ext cx="699516" cy="186538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6228" y="16184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2514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(LIFO)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28620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History &amp; Undo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329184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deletion is first to be undone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push / pop via array top index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as borrow-history log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1371600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371600"/>
            <a:ext cx="3383280" cy="7315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5" name="Shape 23"/>
          <p:cNvSpPr/>
          <p:nvPr/>
        </p:nvSpPr>
        <p:spPr>
          <a:xfrm>
            <a:off x="9326880" y="1783080"/>
            <a:ext cx="267462" cy="225857"/>
          </a:xfrm>
          <a:prstGeom prst="rect">
            <a:avLst/>
          </a:prstGeom>
          <a:solidFill>
            <a:srgbClr val="C9A24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30004" y="1783080"/>
            <a:ext cx="267462" cy="225857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33127" y="1783080"/>
            <a:ext cx="267462" cy="225857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36251" y="1783080"/>
            <a:ext cx="267462" cy="225857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34272" y="1832000"/>
            <a:ext cx="256032" cy="128016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30" name="Text 28"/>
          <p:cNvSpPr/>
          <p:nvPr/>
        </p:nvSpPr>
        <p:spPr>
          <a:xfrm>
            <a:off x="9006840" y="15270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540289" y="1832000"/>
            <a:ext cx="256032" cy="128016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32" name="Text 30"/>
          <p:cNvSpPr/>
          <p:nvPr/>
        </p:nvSpPr>
        <p:spPr>
          <a:xfrm>
            <a:off x="10503713" y="152704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66760" y="2514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(FIFO)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66760" y="28620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Waiting List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66760" y="329184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fair, ordered service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enqueue / dequeue via front &amp; rear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real library waiting lists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143-2  |  Data Structures and Algorithms  |  Uva Wellassa University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Searching, sorting, and queue-management algorithms with Big-O time complexity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2468880"/>
                <a:gridCol w="219456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Used For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Time Complexity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Space Complexity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Linear Search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Find book by ID / Title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O(n)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O(1)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Bubble Sort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Sort catalogue by Title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O(n^2)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O(1)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Head Insertion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Add new book to list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O(1)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O(1)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Node Unlinking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Delete book by ID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O(n)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O(1)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Array Push / Pop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Stack undo / history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O(1) amortised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O(1)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Linked Enqueue / Dequeue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Queue reservation flow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O(1)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O(1)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143-2  |  Data Structures and Algorithms  |  Uva Wellassa University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Lessons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8249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824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148132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Management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00200" y="181051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re-linking nodes during deletion (especially the head-node edge case) required careful, deliberate handling to avoid breaking the list or losing nodes.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80944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80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779776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Stack Consistent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600200" y="310896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every deletion and borrow event was pushed onto the history stack in exactly the right order was essential for the Undo feature to behave predictably.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2793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79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4078224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Fair Queue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600200" y="440740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enqueue/dequeue with separate front and rear references (rather than a single pointer) was necessary to keep both operations at O(1).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266944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57784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577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00200" y="53766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CLI Input Handling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600200" y="5705856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Scanner input parsing in try-catch blocks was necessary to prevent invalid, non-numeric entries from crashing the whole application.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143-2  |  Data Structures and Algorithms  |  Uva Wellassa University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114800" cy="41148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291840" cy="329184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Demo &amp; GitHub Repository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console demonstration of Add / Delete / Undo / Reserve / Serve workflows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232C63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new books and display the live catalogue (Linked List)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Delete a book, then demonstrate Undo Last Delete (Stack)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Reserve an unavailable book with two students, then process the queue in order (Queue)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Repository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3891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3891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https://github.com/&lt;your-username&gt;/library-management-system-ict143-2 ]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must include: full source code, README with compile/run instructions, and this report.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|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2026-07-15T07:07:50Z</dcterms:created>
  <dcterms:modified xsi:type="dcterms:W3CDTF">2026-07-15T07:07:50Z</dcterms:modified>
</cp:coreProperties>
</file>